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7A1CC55-4688-4383-AAF8-E4E4054C0143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DeviceRent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BDD660-AA92-4E0B-95A5-D4C345771206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기반 브리핑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4FEF6A-3083-4F11-8AD6-1880C097B44E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514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CAD5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AD5E2"/>
                </a:solidFill>
                <a:latin typeface="Malgun Gothic"/>
                <a:ea typeface="Malgun Gothic"/>
                <a:cs typeface="Malgun Gothic"/>
              </a:rPr>
              <a:t>실제 로컬 빌드 화면 캡처를 기준으로</a:t>
            </a:r>
          </a:p>
          <a:p>
            <a:pPr algn="l">
              <a:buNone/>
              <a:defRPr sz="1500" b="0">
                <a:solidFill>
                  <a:srgbClr val="CAD5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AD5E2"/>
                </a:solidFill>
                <a:latin typeface="Malgun Gothic"/>
                <a:ea typeface="Malgun Gothic"/>
                <a:cs typeface="Malgun Gothic"/>
              </a:rPr>
              <a:t>사용자 플로우와 운영 로직을 설명합니다.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2A0534D-C8D7-46CE-94A8-A6C46FD23FE4}"/>
              </a:ext>
            </a:extLst>
          </p:cNvPr>
          <p:cNvSpPr>
            <a:spLocks noGrp="1"/>
          </p:cNvSpPr>
          <p:nvPr/>
        </p:nvSpPr>
        <p:spPr>
          <a:xfrm>
            <a:off x="6362700" y="838200"/>
            <a:ext cx="5105400" cy="29337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41926" y="914400"/>
            <a:ext cx="4946948" cy="27813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D7A3276-357A-4053-B261-D11B3B47E6B7}"/>
              </a:ext>
            </a:extLst>
          </p:cNvPr>
          <p:cNvSpPr>
            <a:spLocks noGrp="1"/>
          </p:cNvSpPr>
          <p:nvPr/>
        </p:nvSpPr>
        <p:spPr>
          <a:xfrm>
            <a:off x="6438900" y="4171950"/>
            <a:ext cx="4953000" cy="876300"/>
          </a:xfrm>
          <a:prstGeom prst="roundRect">
            <a:avLst>
              <a:gd name="adj" fmla="val 13043"/>
            </a:avLst>
          </a:prstGeom>
          <a:solidFill>
            <a:srgbClr val="0F172B"/>
          </a:solidFill>
          <a:ln w="9525">
            <a:solidFill>
              <a:srgbClr val="3141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09E2FF-59F7-4CC2-A40B-1C68FD46D45B}"/>
              </a:ext>
            </a:extLst>
          </p:cNvPr>
          <p:cNvSpPr>
            <a:spLocks noGrp="1"/>
          </p:cNvSpPr>
          <p:nvPr/>
        </p:nvSpPr>
        <p:spPr>
          <a:xfrm>
            <a:off x="6705600" y="44005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CAD5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AD5E2"/>
                </a:solidFill>
                <a:latin typeface="Malgun Gothic"/>
                <a:ea typeface="Malgun Gothic"/>
                <a:cs typeface="Malgun Gothic"/>
              </a:rPr>
              <a:t>접속 주소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680E07-2FE2-43F6-A874-55D55AB0B846}"/>
              </a:ext>
            </a:extLst>
          </p:cNvPr>
          <p:cNvSpPr>
            <a:spLocks noGrp="1"/>
          </p:cNvSpPr>
          <p:nvPr/>
        </p:nvSpPr>
        <p:spPr>
          <a:xfrm>
            <a:off x="6705600" y="466725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http://192.168.0.143:3000/</a:t>
            </a:r>
            <a:endParaRPr lang="en-US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endParaRPr sz="18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E37A6A-A4DD-4B2B-A136-4653D7A6783C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0A1B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0A1B9"/>
                </a:solidFill>
                <a:latin typeface="Malgun Gothic"/>
                <a:ea typeface="Malgun Gothic"/>
                <a:cs typeface="Malgun Gothic"/>
              </a:rPr>
              <a:t>기준일 2026.06.16</a:t>
            </a:r>
          </a:p>
        </p:txBody>
      </p:sp>
    </p:spTree>
    <p:extLst>
      <p:ext uri="{BB962C8B-B14F-4D97-AF65-F5344CB8AC3E}">
        <p14:creationId xmlns:p14="http://schemas.microsoft.com/office/powerpoint/2010/main" val="146694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3FA588E-0F3A-43EB-81AC-D0116BF22276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4DE7DF-86DF-4F5B-89A3-7755FF5A794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1. 현재 화면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30FDA6-11B8-4F4F-B8F6-609A27D4C55C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실제 배포 화면 기준으로 사용자·관리자 플로우가 분리되어 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AA2576-567C-40FE-A13B-E80E18F84512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A756C45-C378-45CF-9C1C-B80FE9858709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5377" y="1695450"/>
            <a:ext cx="3185021" cy="17907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ABF510F-F3EB-4D80-ABE0-7537E1CFD899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대여하기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3E9004-4696-4A26-B06F-E97F95D16D6C}"/>
              </a:ext>
            </a:extLst>
          </p:cNvPr>
          <p:cNvSpPr>
            <a:spLocks noGrp="1"/>
          </p:cNvSpPr>
          <p:nvPr/>
        </p:nvSpPr>
        <p:spPr>
          <a:xfrm>
            <a:off x="4191000" y="161925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70127" y="1695450"/>
            <a:ext cx="3185021" cy="17907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D02C51D-EF79-4D98-B749-67ADCE893371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대여 현황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5012E1-A0C5-4C98-A26B-72B12C757375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84877" y="1695450"/>
            <a:ext cx="3185021" cy="17907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845CEE-3B81-4AB3-8949-59D3E328E416}"/>
              </a:ext>
            </a:extLst>
          </p:cNvPr>
          <p:cNvSpPr>
            <a:spLocks noGrp="1"/>
          </p:cNvSpPr>
          <p:nvPr/>
        </p:nvSpPr>
        <p:spPr>
          <a:xfrm>
            <a:off x="7981950" y="356235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대여 히스토리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BCBBBC8-B729-4CE9-9B9A-9BAF548096A8}"/>
              </a:ext>
            </a:extLst>
          </p:cNvPr>
          <p:cNvSpPr>
            <a:spLocks noGrp="1"/>
          </p:cNvSpPr>
          <p:nvPr/>
        </p:nvSpPr>
        <p:spPr>
          <a:xfrm>
            <a:off x="476250" y="381000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55377" y="3886200"/>
            <a:ext cx="3185021" cy="17907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5705AB-1EFB-48E6-8CC5-C6B822F8CB49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디바이스 관리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BA1F539-5F7F-415D-9DCC-6158375E11A2}"/>
              </a:ext>
            </a:extLst>
          </p:cNvPr>
          <p:cNvSpPr>
            <a:spLocks noGrp="1"/>
          </p:cNvSpPr>
          <p:nvPr/>
        </p:nvSpPr>
        <p:spPr>
          <a:xfrm>
            <a:off x="4191000" y="381000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70127" y="3886200"/>
            <a:ext cx="3185021" cy="17907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650FA6-A76B-49B7-94D3-C86C650C32AF}"/>
              </a:ext>
            </a:extLst>
          </p:cNvPr>
          <p:cNvSpPr>
            <a:spLocks noGrp="1"/>
          </p:cNvSpPr>
          <p:nvPr/>
        </p:nvSpPr>
        <p:spPr>
          <a:xfrm>
            <a:off x="4267200" y="575310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4DDE1A5-DF4E-438B-9504-902600234FBD}"/>
              </a:ext>
            </a:extLst>
          </p:cNvPr>
          <p:cNvSpPr>
            <a:spLocks noGrp="1"/>
          </p:cNvSpPr>
          <p:nvPr/>
        </p:nvSpPr>
        <p:spPr>
          <a:xfrm>
            <a:off x="7905750" y="3810000"/>
            <a:ext cx="3343275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84877" y="3886200"/>
            <a:ext cx="3185021" cy="17907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F967D2-6CD8-4D01-BB7F-9D0507652224}"/>
              </a:ext>
            </a:extLst>
          </p:cNvPr>
          <p:cNvSpPr>
            <a:spLocks noGrp="1"/>
          </p:cNvSpPr>
          <p:nvPr/>
        </p:nvSpPr>
        <p:spPr>
          <a:xfrm>
            <a:off x="7981950" y="5753100"/>
            <a:ext cx="3190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장기대여 승인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6E0848-148A-4BA3-B309-DCA2666A4EB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CF0063-63E7-4C7D-83AC-62E20A22E62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241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0B4C81-4F49-49D1-927A-03F056C69B6B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961D75-BDE0-49C6-B7CA-B7D957BEE28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2. 대여하기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999D6A-A250-4F17-BD88-2F6E946AB4AA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사용자가 가장 많이 쓰는 진입 화면입니다. 검색, 요약, 대여/반납, 상세정보가 한 화면에 모입니다.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56A117-22D9-4F87-BFDD-5A831525DCF9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4498BC-C63B-45BD-86F7-342F38F73963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486650" cy="4276725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619661"/>
            <a:ext cx="7334250" cy="412350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34A1CB-5214-4138-91E9-43A93B64CB4A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3048000" cy="37147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30D088-1467-49E1-867A-23F344E174F7}"/>
              </a:ext>
            </a:extLst>
          </p:cNvPr>
          <p:cNvSpPr>
            <a:spLocks noGrp="1"/>
          </p:cNvSpPr>
          <p:nvPr/>
        </p:nvSpPr>
        <p:spPr>
          <a:xfrm>
            <a:off x="8591550" y="1905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운영 의미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970063-4CF6-4349-8486-C2548C3C8DE4}"/>
              </a:ext>
            </a:extLst>
          </p:cNvPr>
          <p:cNvSpPr>
            <a:spLocks noGrp="1"/>
          </p:cNvSpPr>
          <p:nvPr/>
        </p:nvSpPr>
        <p:spPr>
          <a:xfrm>
            <a:off x="8610600" y="24193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전체/대여가능/대여중/내대여 요약으로 현재 가용량을 즉시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BE5C2F-1F74-4C93-88F1-A7261D51548C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 버튼은 서버 조건부 갱신으로 최종 확정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1A6A2F-BCC6-406B-AC83-1BB193BC6F11}"/>
              </a:ext>
            </a:extLst>
          </p:cNvPr>
          <p:cNvSpPr>
            <a:spLocks noGrp="1"/>
          </p:cNvSpPr>
          <p:nvPr/>
        </p:nvSpPr>
        <p:spPr>
          <a:xfrm>
            <a:off x="8610600" y="34480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i 버튼으로 기기 상세 스펙을 조회 전용으로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C18241-75A3-4D3D-A0E9-87F2A689A05E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본인 대여 기기만 반납 가능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5F4CD6-D096-41CC-858E-781AC9DAF24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3653CA-FBE9-45DC-9325-585E9F15D44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934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8EB0C3C-FCC7-45B5-81BC-9BA6FF253BFE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8D187A-9046-4F8D-8F37-1931F7405D43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3. 대여 현황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AB520F-39BE-4F35-A7B0-00CFDA00E24A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현재 누가 어떤 기기를 쓰는지 확인하는 운영 관제 화면입니다.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13D43A-237D-44EE-B8D3-AF4322A61414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DEB09D7-7D74-41D3-8DAB-29B26753F391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486650" cy="4276725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619661"/>
            <a:ext cx="7334250" cy="412350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5414ECA-221A-4212-B783-3AA16A42E3AB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3048000" cy="37147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66B5FD-BEB9-4794-8734-C4E348557DFD}"/>
              </a:ext>
            </a:extLst>
          </p:cNvPr>
          <p:cNvSpPr>
            <a:spLocks noGrp="1"/>
          </p:cNvSpPr>
          <p:nvPr/>
        </p:nvSpPr>
        <p:spPr>
          <a:xfrm>
            <a:off x="8591550" y="1905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rPr>
              <a:t>확인 포인트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C20DF9-7233-4612-8B02-CEEDC98F0759}"/>
              </a:ext>
            </a:extLst>
          </p:cNvPr>
          <p:cNvSpPr>
            <a:spLocks noGrp="1"/>
          </p:cNvSpPr>
          <p:nvPr/>
        </p:nvSpPr>
        <p:spPr>
          <a:xfrm>
            <a:off x="8610600" y="24193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현재 대여중 목록 중심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45BC65-2816-4BA0-BB70-5A3572A343C1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대여자/대여일시/특이사항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AD2868-CB94-49CA-92C9-7C79E146F474}"/>
              </a:ext>
            </a:extLst>
          </p:cNvPr>
          <p:cNvSpPr>
            <a:spLocks noGrp="1"/>
          </p:cNvSpPr>
          <p:nvPr/>
        </p:nvSpPr>
        <p:spPr>
          <a:xfrm>
            <a:off x="8610600" y="34480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요약 카드는 전체 기기 API를 함께 조회해 산출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1FC0DA-E3F2-4EAA-BD7B-FB82C99030A4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지원·관리자 문의 시 1차 확인 화면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4D1BF1-8A20-43D2-AC10-1C4392A3A93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CA8076-247F-4C96-B59A-137331303675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13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4C8E63E-44D2-4FBA-B290-D4DDD56E174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91499-146D-4B64-9EDC-8FEC57BE032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4. 대여 히스토리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C87099-8387-4507-AE2B-1490D53F43FA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대여/반납 이력을 추적하고, 기간별 다운로드로 감사 대응이 가능합니다.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F7B2BD-0AE7-4A95-8442-9130DA63FB7A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06EA24-E5E3-4D41-8932-6596C4AA1E31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486650" cy="4276725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619661"/>
            <a:ext cx="7334250" cy="412350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ADC484-061A-4E2B-9A0B-4D712FE4416A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3048000" cy="37147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9F8842-7090-474B-806F-B83F698C3E39}"/>
              </a:ext>
            </a:extLst>
          </p:cNvPr>
          <p:cNvSpPr>
            <a:spLocks noGrp="1"/>
          </p:cNvSpPr>
          <p:nvPr/>
        </p:nvSpPr>
        <p:spPr>
          <a:xfrm>
            <a:off x="8591550" y="1905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rPr>
              <a:t>감사 관점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32EF46-8F84-45BA-AAE3-64C3D458F157}"/>
              </a:ext>
            </a:extLst>
          </p:cNvPr>
          <p:cNvSpPr>
            <a:spLocks noGrp="1"/>
          </p:cNvSpPr>
          <p:nvPr/>
        </p:nvSpPr>
        <p:spPr>
          <a:xfrm>
            <a:off x="8610600" y="24193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대여와 반납을 하나의 흐름으로 추적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69AA69-FA1A-47F7-ADC7-63EC3FC771F5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사용자, 기기, 시간, 특이사항을 함께 보관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C1FA8D-043D-4401-A797-8F71BF15F8BF}"/>
              </a:ext>
            </a:extLst>
          </p:cNvPr>
          <p:cNvSpPr>
            <a:spLocks noGrp="1"/>
          </p:cNvSpPr>
          <p:nvPr/>
        </p:nvSpPr>
        <p:spPr>
          <a:xfrm>
            <a:off x="8610600" y="34480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기간 필터와 엑셀 다운로드 지원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E9DBAD-E341-4E9D-B30F-5F576E0DE810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운영 이슈 발생 시 근거 자료로 사용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DC3BB3-7646-4544-82E4-02E50C8C3F3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28B642-6EF5-45E0-8357-78503C9DA84C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230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A1DEE24-275C-4CB4-A741-33323C9920EB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FA86C6-69EA-4127-8828-53A5D54ED3A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5. 디바이스 관리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6D18B4-4CA0-4168-A929-7B6F14F327D3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관리자는 기기 마스터, 상태, 상세 스펙, 삭제 정책을 여기서 운영합니다.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89AF58-81AA-4A65-870D-85EBE274426F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B3FE7EC-B02F-4974-8A73-2AC0B0312B67}"/>
              </a:ext>
            </a:extLst>
          </p:cNvPr>
          <p:cNvSpPr>
            <a:spLocks noGrp="1"/>
          </p:cNvSpPr>
          <p:nvPr/>
        </p:nvSpPr>
        <p:spPr>
          <a:xfrm>
            <a:off x="476250" y="1447800"/>
            <a:ext cx="7581900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26210"/>
            <a:ext cx="7429500" cy="417705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BFF719-8956-4795-BD50-5D2F6DB2D148}"/>
              </a:ext>
            </a:extLst>
          </p:cNvPr>
          <p:cNvSpPr>
            <a:spLocks noGrp="1"/>
          </p:cNvSpPr>
          <p:nvPr/>
        </p:nvSpPr>
        <p:spPr>
          <a:xfrm>
            <a:off x="8477250" y="1676400"/>
            <a:ext cx="2952750" cy="3714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694831-9831-44DD-BFCB-1403DFBB6203}"/>
              </a:ext>
            </a:extLst>
          </p:cNvPr>
          <p:cNvSpPr>
            <a:spLocks noGrp="1"/>
          </p:cNvSpPr>
          <p:nvPr/>
        </p:nvSpPr>
        <p:spPr>
          <a:xfrm>
            <a:off x="8686800" y="190500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rPr>
              <a:t>관리 포인트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B6C04A-D65A-46C2-92F5-75F263827396}"/>
              </a:ext>
            </a:extLst>
          </p:cNvPr>
          <p:cNvSpPr>
            <a:spLocks noGrp="1"/>
          </p:cNvSpPr>
          <p:nvPr/>
        </p:nvSpPr>
        <p:spPr>
          <a:xfrm>
            <a:off x="8705850" y="24193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엑셀 초기화로 실제 장비 대장 반영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CBC326-FA7C-402D-BF83-134A9A953C6D}"/>
              </a:ext>
            </a:extLst>
          </p:cNvPr>
          <p:cNvSpPr>
            <a:spLocks noGrp="1"/>
          </p:cNvSpPr>
          <p:nvPr/>
        </p:nvSpPr>
        <p:spPr>
          <a:xfrm>
            <a:off x="8705850" y="29337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상세정보는 조회 후 수정 버튼으로 편집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9B4299-6080-4FFC-B4B7-457061EA972E}"/>
              </a:ext>
            </a:extLst>
          </p:cNvPr>
          <p:cNvSpPr>
            <a:spLocks noGrp="1"/>
          </p:cNvSpPr>
          <p:nvPr/>
        </p:nvSpPr>
        <p:spPr>
          <a:xfrm>
            <a:off x="8705850" y="34480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상태 변경은 이력에 남음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9ED909-1866-424F-9CD3-D0F95D65CABB}"/>
              </a:ext>
            </a:extLst>
          </p:cNvPr>
          <p:cNvSpPr>
            <a:spLocks noGrp="1"/>
          </p:cNvSpPr>
          <p:nvPr/>
        </p:nvSpPr>
        <p:spPr>
          <a:xfrm>
            <a:off x="8705850" y="39624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 중 기기 삭제는 서버에서 차단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CE2B15-03CD-4E7F-95C1-34CE33D6E45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CAFB27-3FE7-4B63-B8BC-C311650C4A43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007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ECB3DAB-0D03-442F-B383-D9E5CE6C7015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757BF3-2286-471A-A36E-58E636DAE149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6. 대시보드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887241-2F2F-4376-AC42-DDE45B154EA9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관리자와 리더가 운영 리스크를 빠르게 보는 요약 화면입니다.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12EFB1-0B5D-4F6D-9BC4-BB32305F2230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AB56BB-9D43-4F7A-A123-91B9FE4A77CA}"/>
              </a:ext>
            </a:extLst>
          </p:cNvPr>
          <p:cNvSpPr>
            <a:spLocks noGrp="1"/>
          </p:cNvSpPr>
          <p:nvPr/>
        </p:nvSpPr>
        <p:spPr>
          <a:xfrm>
            <a:off x="476250" y="1447800"/>
            <a:ext cx="7581900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26210"/>
            <a:ext cx="7429500" cy="417705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5E08284-6D5A-4A45-BDAA-BBF7DFD41EF5}"/>
              </a:ext>
            </a:extLst>
          </p:cNvPr>
          <p:cNvSpPr>
            <a:spLocks noGrp="1"/>
          </p:cNvSpPr>
          <p:nvPr/>
        </p:nvSpPr>
        <p:spPr>
          <a:xfrm>
            <a:off x="8477250" y="1676400"/>
            <a:ext cx="2952750" cy="3714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243F8B-420C-42F1-AD13-3D876D7CE9F9}"/>
              </a:ext>
            </a:extLst>
          </p:cNvPr>
          <p:cNvSpPr>
            <a:spLocks noGrp="1"/>
          </p:cNvSpPr>
          <p:nvPr/>
        </p:nvSpPr>
        <p:spPr>
          <a:xfrm>
            <a:off x="8686800" y="190500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rPr>
              <a:t>리더 관점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17ED8C-A1EB-4B7B-862B-113A34BE5A87}"/>
              </a:ext>
            </a:extLst>
          </p:cNvPr>
          <p:cNvSpPr>
            <a:spLocks noGrp="1"/>
          </p:cNvSpPr>
          <p:nvPr/>
        </p:nvSpPr>
        <p:spPr>
          <a:xfrm>
            <a:off x="8705850" y="24193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대여중·가용·장기대여·지연 상태 요약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EE69A8-3DCD-4350-8797-F8807096AEEC}"/>
              </a:ext>
            </a:extLst>
          </p:cNvPr>
          <p:cNvSpPr>
            <a:spLocks noGrp="1"/>
          </p:cNvSpPr>
          <p:nvPr/>
        </p:nvSpPr>
        <p:spPr>
          <a:xfrm>
            <a:off x="8705850" y="29337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OS별 보유량과 최근 활동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8558EC-F089-42B9-8A5E-5040AD0005C5}"/>
              </a:ext>
            </a:extLst>
          </p:cNvPr>
          <p:cNvSpPr>
            <a:spLocks noGrp="1"/>
          </p:cNvSpPr>
          <p:nvPr/>
        </p:nvSpPr>
        <p:spPr>
          <a:xfrm>
            <a:off x="8705850" y="34480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72시간 초과 대여를 주의 대상으로 표시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E9C9CC-AFC8-4DF9-A54E-98E82A066D9B}"/>
              </a:ext>
            </a:extLst>
          </p:cNvPr>
          <p:cNvSpPr>
            <a:spLocks noGrp="1"/>
          </p:cNvSpPr>
          <p:nvPr/>
        </p:nvSpPr>
        <p:spPr>
          <a:xfrm>
            <a:off x="8705850" y="39624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승인된 장기대여는 지연 집계에서 제외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CE3C15-C37E-4FB6-A68F-9D043CD2FF5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A65614-CCA5-4502-97C9-D18C1520F13C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350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863ACCE-8318-45CA-A3CC-6DACA9363261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DC15B1-9C9F-4B6C-A292-93F5F2AA61D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7. 장기대여 승인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76FE81-01CC-4942-8ACF-4C0D4507999B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팀장 이상 권한자가 장기대여 요청을 승인·거절합니다.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6DA011-A6C4-4FF1-B0F9-DDF9485B834E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455B25D-515D-45AE-AB0C-BA62B0CA172E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486650" cy="4276725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619661"/>
            <a:ext cx="7334250" cy="412350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45764FA-4F1F-4246-9160-75903AD28A85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3048000" cy="37147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1FADFE-FDFD-4982-A53B-919791E4FE60}"/>
              </a:ext>
            </a:extLst>
          </p:cNvPr>
          <p:cNvSpPr>
            <a:spLocks noGrp="1"/>
          </p:cNvSpPr>
          <p:nvPr/>
        </p:nvSpPr>
        <p:spPr>
          <a:xfrm>
            <a:off x="8591550" y="1905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rPr>
              <a:t>승인 로직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0C2458-AF66-4849-ACBB-166C1B6340C0}"/>
              </a:ext>
            </a:extLst>
          </p:cNvPr>
          <p:cNvSpPr>
            <a:spLocks noGrp="1"/>
          </p:cNvSpPr>
          <p:nvPr/>
        </p:nvSpPr>
        <p:spPr>
          <a:xfrm>
            <a:off x="8610600" y="24193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장기대여 신청 시 기기는 먼저 대여 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B4D125-26D6-401F-AB62-2B75E71B8D60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승인 전 상태는 pending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E315D3-4D72-4FDD-A088-CBF0219A9E30}"/>
              </a:ext>
            </a:extLst>
          </p:cNvPr>
          <p:cNvSpPr>
            <a:spLocks noGrp="1"/>
          </p:cNvSpPr>
          <p:nvPr/>
        </p:nvSpPr>
        <p:spPr>
          <a:xfrm>
            <a:off x="8610600" y="344805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승인 시 approvedBy/approvedAt 저장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FB7BEC-194D-4198-AFED-A28F5E7D07CC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거절 시 일반 대여 상태로 환원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A97BAF-069C-4B79-8D7E-4B0FA0DD3C0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F73E94-3319-4FA3-822E-09010771A81B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4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CF9B35B-6A9A-4E44-8751-8578D0B7520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5B6516-0E38-4B93-86D6-F48D7C5096A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관리자 홈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A0724A-DA4C-419A-A444-503149353B22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운영자가 사용자/기기/이력/대시보드 기능으로 진입하는 관리자 기능 허브입니다.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833157-0C8B-4136-B679-93094E27AEC2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FDCCDE0-1445-4DEC-AA30-3566F20E41B7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7581900" cy="42672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814" y="1619250"/>
            <a:ext cx="7318772" cy="41148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BAD80D2-18BE-4F58-8340-3666FFCE22D5}"/>
              </a:ext>
            </a:extLst>
          </p:cNvPr>
          <p:cNvSpPr>
            <a:spLocks noGrp="1"/>
          </p:cNvSpPr>
          <p:nvPr/>
        </p:nvSpPr>
        <p:spPr>
          <a:xfrm>
            <a:off x="8477250" y="1676400"/>
            <a:ext cx="2952750" cy="3714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DE61BB-6913-4C08-B7C8-B028201ABF44}"/>
              </a:ext>
            </a:extLst>
          </p:cNvPr>
          <p:cNvSpPr>
            <a:spLocks noGrp="1"/>
          </p:cNvSpPr>
          <p:nvPr/>
        </p:nvSpPr>
        <p:spPr>
          <a:xfrm>
            <a:off x="8686800" y="190500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운영 허브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3A4FCB-5D0F-4C7C-A0C5-F7ECD511E3B0}"/>
              </a:ext>
            </a:extLst>
          </p:cNvPr>
          <p:cNvSpPr>
            <a:spLocks noGrp="1"/>
          </p:cNvSpPr>
          <p:nvPr/>
        </p:nvSpPr>
        <p:spPr>
          <a:xfrm>
            <a:off x="8705850" y="2438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사용자 승인/관리로 계정 운영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2439B8-5708-409A-ACC9-3EFCF1DBACB5}"/>
              </a:ext>
            </a:extLst>
          </p:cNvPr>
          <p:cNvSpPr>
            <a:spLocks noGrp="1"/>
          </p:cNvSpPr>
          <p:nvPr/>
        </p:nvSpPr>
        <p:spPr>
          <a:xfrm>
            <a:off x="8705850" y="2952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디바이스 관리와 엑셀 초기화 진입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486683-1759-4961-B235-978AF68D277B}"/>
              </a:ext>
            </a:extLst>
          </p:cNvPr>
          <p:cNvSpPr>
            <a:spLocks noGrp="1"/>
          </p:cNvSpPr>
          <p:nvPr/>
        </p:nvSpPr>
        <p:spPr>
          <a:xfrm>
            <a:off x="8705850" y="34671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 히스토리와 내보내기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2100DF-1F43-4113-A51B-FCA8F1A1195C}"/>
              </a:ext>
            </a:extLst>
          </p:cNvPr>
          <p:cNvSpPr>
            <a:spLocks noGrp="1"/>
          </p:cNvSpPr>
          <p:nvPr/>
        </p:nvSpPr>
        <p:spPr>
          <a:xfrm>
            <a:off x="8705850" y="3981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대시보드와 장기대여 승인으로 리더 업무 연결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0034C2-64BB-4437-A25A-BCB7A472F8EB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6FE968-6DAA-4E0E-945C-BEB6A908EB5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274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C8F300-7595-4AFB-82EA-E129DBA508CC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693B3C-5AAA-443C-8C98-6D561D46DE82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1. 사용자 상세조회와 대여 유형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21EC7A-5093-4AD2-A13C-D2FC4E095602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리스트에서 끝나는 화면이 아니라, 버튼 클릭 후 실제 확인/선택 단계가 이어집니다.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FB9682-9AB6-400A-9615-74AE67A97E07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5302225-786C-41C6-8021-843603268074}"/>
              </a:ext>
            </a:extLst>
          </p:cNvPr>
          <p:cNvSpPr>
            <a:spLocks noGrp="1"/>
          </p:cNvSpPr>
          <p:nvPr/>
        </p:nvSpPr>
        <p:spPr>
          <a:xfrm>
            <a:off x="485775" y="149542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5476" y="1562100"/>
            <a:ext cx="4946948" cy="27813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EE12B4-71C8-4AA3-92BB-E2DA7297EAC9}"/>
              </a:ext>
            </a:extLst>
          </p:cNvPr>
          <p:cNvSpPr>
            <a:spLocks noGrp="1"/>
          </p:cNvSpPr>
          <p:nvPr/>
        </p:nvSpPr>
        <p:spPr>
          <a:xfrm>
            <a:off x="5762625" y="149542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32326" y="1562100"/>
            <a:ext cx="4946948" cy="27813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D16410-6F00-4CC0-90E4-417F45CE2E0B}"/>
              </a:ext>
            </a:extLst>
          </p:cNvPr>
          <p:cNvSpPr>
            <a:spLocks noGrp="1"/>
          </p:cNvSpPr>
          <p:nvPr/>
        </p:nvSpPr>
        <p:spPr>
          <a:xfrm>
            <a:off x="1809750" y="4781123"/>
            <a:ext cx="8572500" cy="197949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CB3100-C5FB-4FA0-8A98-156E639945AB}"/>
              </a:ext>
            </a:extLst>
          </p:cNvPr>
          <p:cNvSpPr>
            <a:spLocks noGrp="1"/>
          </p:cNvSpPr>
          <p:nvPr/>
        </p:nvSpPr>
        <p:spPr>
          <a:xfrm>
            <a:off x="2019300" y="4972050"/>
            <a:ext cx="815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설명 보강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8AF283-CEFF-443E-ACFD-C6B73E9F739B}"/>
              </a:ext>
            </a:extLst>
          </p:cNvPr>
          <p:cNvSpPr>
            <a:spLocks noGrp="1"/>
          </p:cNvSpPr>
          <p:nvPr/>
        </p:nvSpPr>
        <p:spPr>
          <a:xfrm>
            <a:off x="2038350" y="54483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대여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페이지의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i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버튼은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상세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스펙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조회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전용입니다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12F86C-7DB9-4BD1-9066-FB888A242696}"/>
              </a:ext>
            </a:extLst>
          </p:cNvPr>
          <p:cNvSpPr>
            <a:spLocks noGrp="1"/>
          </p:cNvSpPr>
          <p:nvPr/>
        </p:nvSpPr>
        <p:spPr>
          <a:xfrm>
            <a:off x="2038350" y="59055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대여 버튼 클릭 후 일반 대여와 장기대여·출장을 구분합니다.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33831C-8282-4566-AA73-D1FC4B96EE7F}"/>
              </a:ext>
            </a:extLst>
          </p:cNvPr>
          <p:cNvSpPr>
            <a:spLocks noGrp="1"/>
          </p:cNvSpPr>
          <p:nvPr/>
        </p:nvSpPr>
        <p:spPr>
          <a:xfrm>
            <a:off x="2038350" y="63627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장기대여는 팀장 승인 플로우로 연결됩니다.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8EAF1E-4E23-4B9C-9E92-D70E9103F643}"/>
              </a:ext>
            </a:extLst>
          </p:cNvPr>
          <p:cNvSpPr>
            <a:spLocks noGrp="1"/>
          </p:cNvSpPr>
          <p:nvPr/>
        </p:nvSpPr>
        <p:spPr>
          <a:xfrm>
            <a:off x="0" y="668527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dirty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E71428-6614-4190-8A79-8F044D32844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584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21F4486-F61E-4006-AAFA-398DD0F65A49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3C785E-9750-4D55-A33F-220919DEB98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2. 장기대여 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9C8301-B7F6-4571-A3B4-82350AFEDAD7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장기대여는 단순 대여가 아니라 사유 입력과 승인 대기 상태를 포함합니다.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921F59-4187-4353-9897-65DF4A17F172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F934B4-9FB5-43A5-BEDB-B5687CC65713}"/>
              </a:ext>
            </a:extLst>
          </p:cNvPr>
          <p:cNvSpPr>
            <a:spLocks noGrp="1"/>
          </p:cNvSpPr>
          <p:nvPr/>
        </p:nvSpPr>
        <p:spPr>
          <a:xfrm>
            <a:off x="485775" y="15525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5476" y="1619250"/>
            <a:ext cx="4946948" cy="27813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0345241-0641-40CD-A168-A389CEEA8C12}"/>
              </a:ext>
            </a:extLst>
          </p:cNvPr>
          <p:cNvSpPr>
            <a:spLocks noGrp="1"/>
          </p:cNvSpPr>
          <p:nvPr/>
        </p:nvSpPr>
        <p:spPr>
          <a:xfrm>
            <a:off x="5762625" y="15525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32326" y="1619250"/>
            <a:ext cx="4946948" cy="27813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EDABF1-FB19-4A2B-8D16-5DC964B7718C}"/>
              </a:ext>
            </a:extLst>
          </p:cNvPr>
          <p:cNvSpPr>
            <a:spLocks noGrp="1"/>
          </p:cNvSpPr>
          <p:nvPr/>
        </p:nvSpPr>
        <p:spPr>
          <a:xfrm>
            <a:off x="1809750" y="4819650"/>
            <a:ext cx="8572500" cy="18669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7D4B0A-15CA-417E-86F8-978961447E88}"/>
              </a:ext>
            </a:extLst>
          </p:cNvPr>
          <p:cNvSpPr>
            <a:spLocks noGrp="1"/>
          </p:cNvSpPr>
          <p:nvPr/>
        </p:nvSpPr>
        <p:spPr>
          <a:xfrm>
            <a:off x="2019300" y="5029200"/>
            <a:ext cx="815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rPr>
              <a:t>운영 방식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270354-D845-4FE3-8C34-280FE4D9A395}"/>
              </a:ext>
            </a:extLst>
          </p:cNvPr>
          <p:cNvSpPr>
            <a:spLocks noGrp="1"/>
          </p:cNvSpPr>
          <p:nvPr/>
        </p:nvSpPr>
        <p:spPr>
          <a:xfrm>
            <a:off x="2038350" y="55054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장기대여 선택 시 승인 요청 안내 문구가 노출됩니다.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02470A-06AE-48F8-A925-FF7FA2C2711E}"/>
              </a:ext>
            </a:extLst>
          </p:cNvPr>
          <p:cNvSpPr>
            <a:spLocks noGrp="1"/>
          </p:cNvSpPr>
          <p:nvPr/>
        </p:nvSpPr>
        <p:spPr>
          <a:xfrm>
            <a:off x="2038350" y="59626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사유 입력 모달에서 반납 예정일과 프로젝트 사유를 기록합니다.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47FBA6-189A-48E4-86DA-7D3F84255DE9}"/>
              </a:ext>
            </a:extLst>
          </p:cNvPr>
          <p:cNvSpPr>
            <a:spLocks noGrp="1"/>
          </p:cNvSpPr>
          <p:nvPr/>
        </p:nvSpPr>
        <p:spPr>
          <a:xfrm>
            <a:off x="2038350" y="64198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신청 후 기기는 대여 처리되지만 상태는 pending으로 관리됩니다.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EA10B-CE1E-4607-ACA2-1C6DD0027AED}"/>
              </a:ext>
            </a:extLst>
          </p:cNvPr>
          <p:cNvSpPr>
            <a:spLocks noGrp="1"/>
          </p:cNvSpPr>
          <p:nvPr/>
        </p:nvSpPr>
        <p:spPr>
          <a:xfrm>
            <a:off x="0" y="6674182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dirty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59CAFE-A3B2-4705-B89E-2BBF8F197DB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3749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37B3E29-BFC1-4540-8392-E7A66CC9E152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B2527A-1114-4A38-A632-56F389026ACA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3. 반납과 상태 변경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DCFF4D-CB0C-4DFC-A2B3-CF0481C23D83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반납 시 상태 변경 여부를 선택해 기기 컨디션까지 함께 관리합니다.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6F87E5-CF39-4F88-AEA3-55E03BA31A9C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D7758E2-52C7-44E3-B313-569945F76B75}"/>
              </a:ext>
            </a:extLst>
          </p:cNvPr>
          <p:cNvSpPr>
            <a:spLocks noGrp="1"/>
          </p:cNvSpPr>
          <p:nvPr/>
        </p:nvSpPr>
        <p:spPr>
          <a:xfrm>
            <a:off x="485775" y="15525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5476" y="1619250"/>
            <a:ext cx="4946948" cy="27813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BAB631-2DA4-4FB6-9009-AF5FEF00D898}"/>
              </a:ext>
            </a:extLst>
          </p:cNvPr>
          <p:cNvSpPr>
            <a:spLocks noGrp="1"/>
          </p:cNvSpPr>
          <p:nvPr/>
        </p:nvSpPr>
        <p:spPr>
          <a:xfrm>
            <a:off x="5762625" y="15525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32326" y="1619250"/>
            <a:ext cx="4946948" cy="27813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C9EABF5-2028-4CFD-8FFF-62B4DEFC843F}"/>
              </a:ext>
            </a:extLst>
          </p:cNvPr>
          <p:cNvSpPr>
            <a:spLocks noGrp="1"/>
          </p:cNvSpPr>
          <p:nvPr/>
        </p:nvSpPr>
        <p:spPr>
          <a:xfrm>
            <a:off x="1809750" y="4819650"/>
            <a:ext cx="8572500" cy="18669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63CC6C-B34E-43CE-8EB2-A8B3449700D1}"/>
              </a:ext>
            </a:extLst>
          </p:cNvPr>
          <p:cNvSpPr>
            <a:spLocks noGrp="1"/>
          </p:cNvSpPr>
          <p:nvPr/>
        </p:nvSpPr>
        <p:spPr>
          <a:xfrm>
            <a:off x="2019300" y="5029200"/>
            <a:ext cx="815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rPr>
              <a:t>사용 예시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CC55DB-08EC-4923-8BF1-696CD274BF5E}"/>
              </a:ext>
            </a:extLst>
          </p:cNvPr>
          <p:cNvSpPr>
            <a:spLocks noGrp="1"/>
          </p:cNvSpPr>
          <p:nvPr/>
        </p:nvSpPr>
        <p:spPr>
          <a:xfrm>
            <a:off x="2038350" y="55054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일반 반납은 대여자 정보와 대여일시를 초기화합니다.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5C5F6C-4D6E-4A96-85EB-122993880C6C}"/>
              </a:ext>
            </a:extLst>
          </p:cNvPr>
          <p:cNvSpPr>
            <a:spLocks noGrp="1"/>
          </p:cNvSpPr>
          <p:nvPr/>
        </p:nvSpPr>
        <p:spPr>
          <a:xfrm>
            <a:off x="2038350" y="59626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파손·수리 필요 시 상태 변경과 함께 반납을 선택합니다.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FF834A-8126-4B57-95ED-38A80F0E9225}"/>
              </a:ext>
            </a:extLst>
          </p:cNvPr>
          <p:cNvSpPr>
            <a:spLocks noGrp="1"/>
          </p:cNvSpPr>
          <p:nvPr/>
        </p:nvSpPr>
        <p:spPr>
          <a:xfrm>
            <a:off x="2038350" y="641985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변경 상태와 사유는 상태 변경 이력에 남습니다.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33F19-035B-4E3C-A72F-1786E2DC2192}"/>
              </a:ext>
            </a:extLst>
          </p:cNvPr>
          <p:cNvSpPr>
            <a:spLocks noGrp="1"/>
          </p:cNvSpPr>
          <p:nvPr/>
        </p:nvSpPr>
        <p:spPr>
          <a:xfrm>
            <a:off x="0" y="6683707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dirty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1926D9-1F08-4829-B078-FB32F2675EA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005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46DDB0-4C0F-4045-92CC-6AE4016DB684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843D9E-F85F-4E3D-B8CB-C786A4B3E0E4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4. 관리자 상세정보 조회와 수정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76C243-8AF1-440E-A295-69CE2752AA86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관리자는 엑셀에서 가져온 기기 상세 스펙을 검토하고 필요 시 수정합니다.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28B5B1-DAA7-4CD0-8E7D-B024BB4F6041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FA5948C-E188-4944-A765-B5BD08EA3444}"/>
              </a:ext>
            </a:extLst>
          </p:cNvPr>
          <p:cNvSpPr>
            <a:spLocks noGrp="1"/>
          </p:cNvSpPr>
          <p:nvPr/>
        </p:nvSpPr>
        <p:spPr>
          <a:xfrm>
            <a:off x="485775" y="14763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5476" y="1543050"/>
            <a:ext cx="4946948" cy="27813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CDF9D6-54D9-4D96-9A7D-B9440EDBEF3A}"/>
              </a:ext>
            </a:extLst>
          </p:cNvPr>
          <p:cNvSpPr>
            <a:spLocks noGrp="1"/>
          </p:cNvSpPr>
          <p:nvPr/>
        </p:nvSpPr>
        <p:spPr>
          <a:xfrm>
            <a:off x="5762625" y="1476375"/>
            <a:ext cx="5086350" cy="291465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32326" y="1543050"/>
            <a:ext cx="4946948" cy="27813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1205E6-CDD8-4A7D-AA18-53B78753E3B0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199314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38825B-32B3-4702-8E43-DA7F1497A7B6}"/>
              </a:ext>
            </a:extLst>
          </p:cNvPr>
          <p:cNvSpPr>
            <a:spLocks noGrp="1"/>
          </p:cNvSpPr>
          <p:nvPr/>
        </p:nvSpPr>
        <p:spPr>
          <a:xfrm>
            <a:off x="2019300" y="4972050"/>
            <a:ext cx="815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rPr>
              <a:t>관리 예시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44F298-4CD2-4EA5-BE8E-61F4933AEE38}"/>
              </a:ext>
            </a:extLst>
          </p:cNvPr>
          <p:cNvSpPr>
            <a:spLocks noGrp="1"/>
          </p:cNvSpPr>
          <p:nvPr/>
        </p:nvSpPr>
        <p:spPr>
          <a:xfrm>
            <a:off x="2038350" y="54483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상세정보 버튼 최초 진입은 조회 모드입니다.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D87878-536B-4B69-BD02-1C9C927E138D}"/>
              </a:ext>
            </a:extLst>
          </p:cNvPr>
          <p:cNvSpPr>
            <a:spLocks noGrp="1"/>
          </p:cNvSpPr>
          <p:nvPr/>
        </p:nvSpPr>
        <p:spPr>
          <a:xfrm>
            <a:off x="2038350" y="59055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수정 버튼 클릭 후에만 입력 필드가 활성화됩니다.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A7AB33-96DF-423F-9032-D86F6BA57BDF}"/>
              </a:ext>
            </a:extLst>
          </p:cNvPr>
          <p:cNvSpPr>
            <a:spLocks noGrp="1"/>
          </p:cNvSpPr>
          <p:nvPr/>
        </p:nvSpPr>
        <p:spPr>
          <a:xfrm>
            <a:off x="2038350" y="6362700"/>
            <a:ext cx="811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해상도, UDID, 칩셋, 메모리 등 실사용 스펙을 보정할 수 있습니다.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DB39C1-9F18-44C1-B4DF-47A63D2426F1}"/>
              </a:ext>
            </a:extLst>
          </p:cNvPr>
          <p:cNvSpPr>
            <a:spLocks noGrp="1"/>
          </p:cNvSpPr>
          <p:nvPr/>
        </p:nvSpPr>
        <p:spPr>
          <a:xfrm>
            <a:off x="0" y="6659254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dirty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86E2AE-F8D7-4ADA-B823-EBB760C0F3F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654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6BE9B16-D9E2-4597-9902-A08AA8B2049E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8BB232-1F4E-4819-BD3D-D44EA638B693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5. 관리자 상태 변경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23A336-044F-4749-B406-EAF69F9CD96C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기기를 수리/비활성/활성 상태로 전환하고 사유를 남기는 운영 절차입니다.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BCA23C-84D0-400E-B2EA-698C32C4CDEF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11A779-AF46-4F40-8359-1C3CE6C526F1}"/>
              </a:ext>
            </a:extLst>
          </p:cNvPr>
          <p:cNvSpPr>
            <a:spLocks noGrp="1"/>
          </p:cNvSpPr>
          <p:nvPr/>
        </p:nvSpPr>
        <p:spPr>
          <a:xfrm>
            <a:off x="809625" y="1495425"/>
            <a:ext cx="6991350" cy="3990975"/>
          </a:xfrm>
          <a:prstGeom prst="roundRect">
            <a:avLst>
              <a:gd name="adj" fmla="val 28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563041"/>
            <a:ext cx="6858000" cy="385574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71A98F5-591D-4EA3-8644-C3337C4358BF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048000" cy="333375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35E57D-C836-4227-9842-5C045F283540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rPr>
              <a:t>시연 포인트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350C66-0B70-4C1E-9F0D-068E76B5534D}"/>
              </a:ext>
            </a:extLst>
          </p:cNvPr>
          <p:cNvSpPr>
            <a:spLocks noGrp="1"/>
          </p:cNvSpPr>
          <p:nvPr/>
        </p:nvSpPr>
        <p:spPr>
          <a:xfrm>
            <a:off x="8420100" y="23622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상태 변경 버튼으로 모달 진입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28371-961D-42BD-BE3F-7DB63320B360}"/>
              </a:ext>
            </a:extLst>
          </p:cNvPr>
          <p:cNvSpPr>
            <a:spLocks noGrp="1"/>
          </p:cNvSpPr>
          <p:nvPr/>
        </p:nvSpPr>
        <p:spPr>
          <a:xfrm>
            <a:off x="8420100" y="2819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활성/수리/비활성 중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5CFC8A-20A9-4ED9-8F84-FCD4859970D2}"/>
              </a:ext>
            </a:extLst>
          </p:cNvPr>
          <p:cNvSpPr>
            <a:spLocks noGrp="1"/>
          </p:cNvSpPr>
          <p:nvPr/>
        </p:nvSpPr>
        <p:spPr>
          <a:xfrm>
            <a:off x="8420100" y="32766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사유 입력 후 변경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94BF8E-BA92-4B81-AFB3-EC5EB0AD806C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상태 변경 이력 페이지에서 추적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E1C462-2DE7-4BA4-A459-278C7B35CDDB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6C0AE4-C0B2-4D31-B65E-B91E942F0B0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08903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9B8A3F6-6A85-4BF7-831B-15AD88BEB3ED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 · DETAIL 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67CE01-B76F-4958-A9D7-BF0061D676A0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상세 플로우 6. 엑셀 초기화와 삭제 통제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50D96-A05F-4BCF-8C6F-5F443C87A55C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데이터 변경 가능성이 큰 작업은 확인 단계와 서버 검증을 통해 통제합니다.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996428-DA91-4F07-AA3D-8F5D8397BE3B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A4445B-EAA2-4965-BC20-0D914E836408}"/>
              </a:ext>
            </a:extLst>
          </p:cNvPr>
          <p:cNvSpPr>
            <a:spLocks noGrp="1"/>
          </p:cNvSpPr>
          <p:nvPr/>
        </p:nvSpPr>
        <p:spPr>
          <a:xfrm>
            <a:off x="485775" y="1476375"/>
            <a:ext cx="7372350" cy="4210050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46425"/>
            <a:ext cx="7239000" cy="406995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FDB02FB-6345-4AA6-B77F-58D68C0A560E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238500" cy="3714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B0ED7A-52F1-4A8B-AC68-82ED86ED600F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rPr>
              <a:t>운영 통제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8DF03F-83E0-45BB-8CF6-394B29A51CA5}"/>
              </a:ext>
            </a:extLst>
          </p:cNvPr>
          <p:cNvSpPr>
            <a:spLocks noGrp="1"/>
          </p:cNvSpPr>
          <p:nvPr/>
        </p:nvSpPr>
        <p:spPr>
          <a:xfrm>
            <a:off x="8420100" y="2362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엑셀 초기화는 운영 마스터 파일 기준으로 목록을 갱신합니다.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F26445-216B-4807-BAFE-0C9D68CF9381}"/>
              </a:ext>
            </a:extLst>
          </p:cNvPr>
          <p:cNvSpPr>
            <a:spLocks noGrp="1"/>
          </p:cNvSpPr>
          <p:nvPr/>
        </p:nvSpPr>
        <p:spPr>
          <a:xfrm>
            <a:off x="8420100" y="28194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강제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초기화는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데이터를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삭제하고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재등록하는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버튼으로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분리했습니다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5A4B6A-40DF-4AAD-BF63-FEA5A50F5EBE}"/>
              </a:ext>
            </a:extLst>
          </p:cNvPr>
          <p:cNvSpPr>
            <a:spLocks noGrp="1"/>
          </p:cNvSpPr>
          <p:nvPr/>
        </p:nvSpPr>
        <p:spPr>
          <a:xfrm>
            <a:off x="8401050" y="3533775"/>
            <a:ext cx="2781300" cy="653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대여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중인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기기의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삭제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버튼은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비활성화되며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서버에서도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삭제를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차단합니다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21D1CD-E8D1-4B08-9982-20C016514F12}"/>
              </a:ext>
            </a:extLst>
          </p:cNvPr>
          <p:cNvSpPr>
            <a:spLocks noGrp="1"/>
          </p:cNvSpPr>
          <p:nvPr/>
        </p:nvSpPr>
        <p:spPr>
          <a:xfrm>
            <a:off x="8420100" y="4378371"/>
            <a:ext cx="2781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1415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삭제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기기도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모달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200" b="0" dirty="0" err="1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처리됩니다</a:t>
            </a:r>
            <a:r>
              <a:rPr sz="1200" b="0" dirty="0">
                <a:solidFill>
                  <a:srgbClr val="31415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54FDD8-F450-41EE-822D-F1ED2C97E25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modal screenshots from local build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CB880C-94CE-4AE4-AE07-DCE5DE127057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3791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25F5055B-7748-4AE4-8E30-7E2D9608F46F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8CC374-13BD-4042-82A9-D5053F5AE6C4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8. 핵심 비즈니스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EE220B-3F42-4F12-9A1C-9AB3A044CC4F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업무는 대여/반납/승인/관리의 네 축으로 정리됩니다.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BBBA68-1C7F-480F-B801-6B13E5FE490A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F5AA96-0DC1-4591-8BAE-6B7E8F72834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809750" cy="1352550"/>
          </a:xfrm>
          <a:prstGeom prst="roundRect">
            <a:avLst>
              <a:gd name="adj" fmla="val 845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68706C-8F32-4322-80E7-3841B02E3CA5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5ECBBE-3A02-47FA-95BA-52B83628B2E6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검색·상세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321528-362E-4141-AB00-6921EC554304}"/>
              </a:ext>
            </a:extLst>
          </p:cNvPr>
          <p:cNvSpPr>
            <a:spLocks noGrp="1"/>
          </p:cNvSpPr>
          <p:nvPr/>
        </p:nvSpPr>
        <p:spPr>
          <a:xfrm>
            <a:off x="2495550" y="28575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4EA412F-1B9D-40D2-8477-33F9C0E55BFD}"/>
              </a:ext>
            </a:extLst>
          </p:cNvPr>
          <p:cNvSpPr>
            <a:spLocks noGrp="1"/>
          </p:cNvSpPr>
          <p:nvPr/>
        </p:nvSpPr>
        <p:spPr>
          <a:xfrm>
            <a:off x="2857500" y="2333625"/>
            <a:ext cx="1809750" cy="1352550"/>
          </a:xfrm>
          <a:prstGeom prst="roundRect">
            <a:avLst>
              <a:gd name="adj" fmla="val 8451"/>
            </a:avLst>
          </a:prstGeom>
          <a:solidFill>
            <a:srgbClr val="ECFDF5"/>
          </a:solidFill>
          <a:ln w="9525">
            <a:solidFill>
              <a:srgbClr val="ECF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CB07EF-852F-43F7-A9AC-4DBAC78A51C2}"/>
              </a:ext>
            </a:extLst>
          </p:cNvPr>
          <p:cNvSpPr>
            <a:spLocks noGrp="1"/>
          </p:cNvSpPr>
          <p:nvPr/>
        </p:nvSpPr>
        <p:spPr>
          <a:xfrm>
            <a:off x="3028950" y="25717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rPr>
              <a:t>대여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79D8B4-DB7C-4944-98EE-58455E02826F}"/>
              </a:ext>
            </a:extLst>
          </p:cNvPr>
          <p:cNvSpPr>
            <a:spLocks noGrp="1"/>
          </p:cNvSpPr>
          <p:nvPr/>
        </p:nvSpPr>
        <p:spPr>
          <a:xfrm>
            <a:off x="3028950" y="30099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active + 미대여</a:t>
            </a:r>
          </a:p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조건부 갱신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4F190-080F-4E69-966A-BCE430788D28}"/>
              </a:ext>
            </a:extLst>
          </p:cNvPr>
          <p:cNvSpPr>
            <a:spLocks noGrp="1"/>
          </p:cNvSpPr>
          <p:nvPr/>
        </p:nvSpPr>
        <p:spPr>
          <a:xfrm>
            <a:off x="4743450" y="28575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F8B0993-7EAB-4D66-9783-0EAD28420C38}"/>
              </a:ext>
            </a:extLst>
          </p:cNvPr>
          <p:cNvSpPr>
            <a:spLocks noGrp="1"/>
          </p:cNvSpPr>
          <p:nvPr/>
        </p:nvSpPr>
        <p:spPr>
          <a:xfrm>
            <a:off x="5105400" y="2333625"/>
            <a:ext cx="1809750" cy="1352550"/>
          </a:xfrm>
          <a:prstGeom prst="roundRect">
            <a:avLst>
              <a:gd name="adj" fmla="val 8451"/>
            </a:avLst>
          </a:prstGeom>
          <a:solidFill>
            <a:srgbClr val="F5F3FF"/>
          </a:solidFill>
          <a:ln w="9525">
            <a:solidFill>
              <a:srgbClr val="F5F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5A69EC-0440-48A9-850D-C3E54C1CC7DA}"/>
              </a:ext>
            </a:extLst>
          </p:cNvPr>
          <p:cNvSpPr>
            <a:spLocks noGrp="1"/>
          </p:cNvSpPr>
          <p:nvPr/>
        </p:nvSpPr>
        <p:spPr>
          <a:xfrm>
            <a:off x="5276850" y="25717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F22FE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4E5C29-0FCC-4827-BC58-701425239565}"/>
              </a:ext>
            </a:extLst>
          </p:cNvPr>
          <p:cNvSpPr>
            <a:spLocks noGrp="1"/>
          </p:cNvSpPr>
          <p:nvPr/>
        </p:nvSpPr>
        <p:spPr>
          <a:xfrm>
            <a:off x="5276850" y="30099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대여자·일시</a:t>
            </a:r>
          </a:p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특이사항 노출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E57A71-D409-4CDC-AA0F-5E22C79124BC}"/>
              </a:ext>
            </a:extLst>
          </p:cNvPr>
          <p:cNvSpPr>
            <a:spLocks noGrp="1"/>
          </p:cNvSpPr>
          <p:nvPr/>
        </p:nvSpPr>
        <p:spPr>
          <a:xfrm>
            <a:off x="6991350" y="28575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165165A-0702-41F3-AA20-7D6BAD30D711}"/>
              </a:ext>
            </a:extLst>
          </p:cNvPr>
          <p:cNvSpPr>
            <a:spLocks noGrp="1"/>
          </p:cNvSpPr>
          <p:nvPr/>
        </p:nvSpPr>
        <p:spPr>
          <a:xfrm>
            <a:off x="7353300" y="2333625"/>
            <a:ext cx="1809750" cy="1352550"/>
          </a:xfrm>
          <a:prstGeom prst="roundRect">
            <a:avLst>
              <a:gd name="adj" fmla="val 8451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7DE252-F0CE-49B0-87AF-E0E9F3CFF7C0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6900"/>
                </a:solidFill>
                <a:latin typeface="Malgun Gothic"/>
                <a:ea typeface="Malgun Gothic"/>
                <a:cs typeface="Malgun Gothic"/>
              </a:rPr>
              <a:t>반납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A1CB99-CDE9-4EC3-8E51-79906B11DF8D}"/>
              </a:ext>
            </a:extLst>
          </p:cNvPr>
          <p:cNvSpPr>
            <a:spLocks noGrp="1"/>
          </p:cNvSpPr>
          <p:nvPr/>
        </p:nvSpPr>
        <p:spPr>
          <a:xfrm>
            <a:off x="7524750" y="30099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본인 대여만</a:t>
            </a:r>
          </a:p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상태 선택 후 반납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C03988-D407-47F1-88F0-B4C46DEA5347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20952CD-FD2E-4193-954A-30ABCC390686}"/>
              </a:ext>
            </a:extLst>
          </p:cNvPr>
          <p:cNvSpPr>
            <a:spLocks noGrp="1"/>
          </p:cNvSpPr>
          <p:nvPr/>
        </p:nvSpPr>
        <p:spPr>
          <a:xfrm>
            <a:off x="9601200" y="2333625"/>
            <a:ext cx="1809750" cy="1352550"/>
          </a:xfrm>
          <a:prstGeom prst="roundRect">
            <a:avLst>
              <a:gd name="adj" fmla="val 8451"/>
            </a:avLst>
          </a:prstGeom>
          <a:solidFill>
            <a:srgbClr val="FFF1F2"/>
          </a:solidFill>
          <a:ln w="9525">
            <a:solidFill>
              <a:srgbClr val="FFF1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B3AE48-F7B6-452E-88B3-49B14B390E32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C003F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2F53FA-5678-4C6B-B3D0-A1A6642AB525}"/>
              </a:ext>
            </a:extLst>
          </p:cNvPr>
          <p:cNvSpPr>
            <a:spLocks noGrp="1"/>
          </p:cNvSpPr>
          <p:nvPr/>
        </p:nvSpPr>
        <p:spPr>
          <a:xfrm>
            <a:off x="9772650" y="300990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이력·상태·엑셀</a:t>
            </a:r>
          </a:p>
          <a:p>
            <a:pPr algn="ctr">
              <a:buNone/>
              <a:def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운영 데이터화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F8D366-B5E3-4B37-81E9-8E1E7BE59D71}"/>
              </a:ext>
            </a:extLst>
          </p:cNvPr>
          <p:cNvSpPr>
            <a:spLocks noGrp="1"/>
          </p:cNvSpPr>
          <p:nvPr/>
        </p:nvSpPr>
        <p:spPr>
          <a:xfrm>
            <a:off x="1600200" y="4457700"/>
            <a:ext cx="89916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A8D237-6CF9-49B3-A367-C70ACD9150EF}"/>
              </a:ext>
            </a:extLst>
          </p:cNvPr>
          <p:cNvSpPr>
            <a:spLocks noGrp="1"/>
          </p:cNvSpPr>
          <p:nvPr/>
        </p:nvSpPr>
        <p:spPr>
          <a:xfrm>
            <a:off x="1866900" y="4686300"/>
            <a:ext cx="845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운영 안정성 핵심: 중복 대여는 DB 조건부 갱신으로 차단하고, 삭제/반납/승인은 권한과 상태를 기준으로 통제합니다.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652F48F-03F0-42F0-A6EF-DEB0DE04A90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EA8A8B-E50F-4C54-B79D-FC2A577638E2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1894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C43C32-FBA9-4001-A31A-8C2683AE85BE}"/>
              </a:ext>
            </a:extLst>
          </p:cNvPr>
          <p:cNvSpPr>
            <a:spLocks noGrp="1"/>
          </p:cNvSpPr>
          <p:nvPr/>
        </p:nvSpPr>
        <p:spPr>
          <a:xfrm>
            <a:off x="552450" y="304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DEVICERENT UI BRIEFING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6058DD-493A-419E-B49F-9B44D4F7C9C6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9. 시스템 도입 시 기대 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483B29-0901-49B1-82B3-2C6B9B8AF928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시스템은 단순 예약표가 아니라 장비 운영 통제 시스템입니다.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0564B7-85D5-4444-AC8C-119E175618CC}"/>
              </a:ext>
            </a:extLst>
          </p:cNvPr>
          <p:cNvSpPr>
            <a:spLocks noGrp="1"/>
          </p:cNvSpPr>
          <p:nvPr/>
        </p:nvSpPr>
        <p:spPr>
          <a:xfrm>
            <a:off x="10572750" y="342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2026.06.16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5705D75-BED2-4DF6-8705-C675618EAC19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457700" cy="12573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9901CD-9267-4DBF-A943-82C183B549C1}"/>
              </a:ext>
            </a:extLst>
          </p:cNvPr>
          <p:cNvSpPr>
            <a:spLocks noGrp="1"/>
          </p:cNvSpPr>
          <p:nvPr/>
        </p:nvSpPr>
        <p:spPr>
          <a:xfrm>
            <a:off x="1143000" y="20574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가시성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E0DDC4-598F-4007-A598-EB614F57C7A4}"/>
              </a:ext>
            </a:extLst>
          </p:cNvPr>
          <p:cNvSpPr>
            <a:spLocks noGrp="1"/>
          </p:cNvSpPr>
          <p:nvPr/>
        </p:nvSpPr>
        <p:spPr>
          <a:xfrm>
            <a:off x="2495550" y="20955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누가 무엇을 쓰는지</a:t>
            </a:r>
          </a:p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현재 화면에서 즉시 확인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F0726A-0247-4AEF-B1A6-8BFF694E9449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4457700" cy="125730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9525">
            <a:solidFill>
              <a:srgbClr val="ECF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5C4490-5006-434B-AA17-C80886381EA6}"/>
              </a:ext>
            </a:extLst>
          </p:cNvPr>
          <p:cNvSpPr>
            <a:spLocks noGrp="1"/>
          </p:cNvSpPr>
          <p:nvPr/>
        </p:nvSpPr>
        <p:spPr>
          <a:xfrm>
            <a:off x="6362700" y="20574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rPr>
              <a:t>통제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06251B-2A0B-4E67-AAF9-8525704058B4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중복 대여·타인 반납·대여중 삭제</a:t>
            </a:r>
          </a:p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서버 로직으로 차단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2FCEA8B-B25B-4F9F-9B2D-3DF9FC59F30B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4457700" cy="12573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4AD3D8-871F-4F4B-BF62-5D8AA78B44DB}"/>
              </a:ext>
            </a:extLst>
          </p:cNvPr>
          <p:cNvSpPr>
            <a:spLocks noGrp="1"/>
          </p:cNvSpPr>
          <p:nvPr/>
        </p:nvSpPr>
        <p:spPr>
          <a:xfrm>
            <a:off x="1143000" y="3867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5DFC"/>
                </a:solidFill>
                <a:latin typeface="Malgun Gothic"/>
                <a:ea typeface="Malgun Gothic"/>
                <a:cs typeface="Malgun Gothic"/>
              </a:rPr>
              <a:t>확장성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7A8BAF-9BCE-459A-88BD-E9F006E77E91}"/>
              </a:ext>
            </a:extLst>
          </p:cNvPr>
          <p:cNvSpPr>
            <a:spLocks noGrp="1"/>
          </p:cNvSpPr>
          <p:nvPr/>
        </p:nvSpPr>
        <p:spPr>
          <a:xfrm>
            <a:off x="2495550" y="39052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엑셀 마스터와 상세 스펙을</a:t>
            </a:r>
          </a:p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운영 데이터로 전환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F03FD2B-0725-4EBA-A436-BCCFD29715D1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4457700" cy="125730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9525">
            <a:solidFill>
              <a:srgbClr val="ECF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45C272-D10B-47DB-9964-18570D0B8309}"/>
              </a:ext>
            </a:extLst>
          </p:cNvPr>
          <p:cNvSpPr>
            <a:spLocks noGrp="1"/>
          </p:cNvSpPr>
          <p:nvPr/>
        </p:nvSpPr>
        <p:spPr>
          <a:xfrm>
            <a:off x="6362700" y="3867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9966"/>
                </a:solidFill>
                <a:latin typeface="Malgun Gothic"/>
                <a:ea typeface="Malgun Gothic"/>
                <a:cs typeface="Malgun Gothic"/>
              </a:rPr>
              <a:t>감사성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758627-C891-447B-AD36-72BF58B6E218}"/>
              </a:ext>
            </a:extLst>
          </p:cNvPr>
          <p:cNvSpPr>
            <a:spLocks noGrp="1"/>
          </p:cNvSpPr>
          <p:nvPr/>
        </p:nvSpPr>
        <p:spPr>
          <a:xfrm>
            <a:off x="7715250" y="39052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대여/반납/상태 변경 이력을</a:t>
            </a:r>
          </a:p>
          <a:p>
            <a:pPr algn="ctr">
              <a:buNone/>
              <a:def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추적 가능하게 보존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82554E-B3B5-4DB7-BA3D-F12B7ED8C7FA}"/>
              </a:ext>
            </a:extLst>
          </p:cNvPr>
          <p:cNvSpPr>
            <a:spLocks noGrp="1"/>
          </p:cNvSpPr>
          <p:nvPr/>
        </p:nvSpPr>
        <p:spPr>
          <a:xfrm>
            <a:off x="2286000" y="58483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20618"/>
                </a:solidFill>
                <a:latin typeface="Malgun Gothic"/>
                <a:ea typeface="Malgun Gothic"/>
                <a:cs typeface="Malgun Gothic"/>
              </a:rPr>
              <a:t>현재 접속: http://192.168.0.143:3000/devices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3D5262-8A15-40D8-A304-2E15A5BF670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Actual UI screenshots from local build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6E5CCA-126E-4CC6-B9C9-78F944B59A4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48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10624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Office PowerPoint</Application>
  <DocSecurity>0</DocSecurity>
  <PresentationFormat>와이드스크린</PresentationFormat>
  <Paragraphs>202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유기현</cp:lastModifiedBy>
  <cp:revision>2</cp:revision>
  <dcterms:created xsi:type="dcterms:W3CDTF">2026-06-16T07:30:26Z</dcterms:created>
  <dcterms:modified xsi:type="dcterms:W3CDTF">2026-06-16T07:44:15Z</dcterms:modified>
</cp:coreProperties>
</file>